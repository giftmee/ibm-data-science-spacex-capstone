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3"/>
  </p:notesMasterIdLst>
  <p:handoutMasterIdLst>
    <p:handoutMasterId r:id="rId54"/>
  </p:handoutMasterIdLst>
  <p:sldIdLst>
    <p:sldId id="327" r:id="rId5"/>
    <p:sldId id="330" r:id="rId6"/>
    <p:sldId id="331" r:id="rId7"/>
    <p:sldId id="332" r:id="rId8"/>
    <p:sldId id="298" r:id="rId9"/>
    <p:sldId id="262" r:id="rId10"/>
    <p:sldId id="263" r:id="rId11"/>
    <p:sldId id="299" r:id="rId12"/>
    <p:sldId id="302" r:id="rId13"/>
    <p:sldId id="264" r:id="rId14"/>
    <p:sldId id="333" r:id="rId15"/>
    <p:sldId id="266" r:id="rId16"/>
    <p:sldId id="265" r:id="rId17"/>
    <p:sldId id="276" r:id="rId18"/>
    <p:sldId id="303" r:id="rId19"/>
    <p:sldId id="293" r:id="rId20"/>
    <p:sldId id="277" r:id="rId21"/>
    <p:sldId id="284" r:id="rId22"/>
    <p:sldId id="269" r:id="rId23"/>
    <p:sldId id="304" r:id="rId24"/>
    <p:sldId id="305" r:id="rId25"/>
    <p:sldId id="307" r:id="rId26"/>
    <p:sldId id="306" r:id="rId27"/>
    <p:sldId id="308" r:id="rId28"/>
    <p:sldId id="270" r:id="rId29"/>
    <p:sldId id="309" r:id="rId30"/>
    <p:sldId id="310" r:id="rId31"/>
    <p:sldId id="311" r:id="rId32"/>
    <p:sldId id="312" r:id="rId33"/>
    <p:sldId id="314" r:id="rId34"/>
    <p:sldId id="313" r:id="rId35"/>
    <p:sldId id="315" r:id="rId36"/>
    <p:sldId id="316" r:id="rId37"/>
    <p:sldId id="317" r:id="rId38"/>
    <p:sldId id="294" r:id="rId39"/>
    <p:sldId id="296" r:id="rId40"/>
    <p:sldId id="318" r:id="rId41"/>
    <p:sldId id="319" r:id="rId42"/>
    <p:sldId id="321" r:id="rId43"/>
    <p:sldId id="322" r:id="rId44"/>
    <p:sldId id="323" r:id="rId45"/>
    <p:sldId id="324" r:id="rId46"/>
    <p:sldId id="288" r:id="rId47"/>
    <p:sldId id="289" r:id="rId48"/>
    <p:sldId id="320" r:id="rId49"/>
    <p:sldId id="274" r:id="rId50"/>
    <p:sldId id="275" r:id="rId51"/>
    <p:sldId id="329" r:id="rId52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998F4E3E-1A76-4A6B-98B6-08752F3768B3}" v="4" dt="2021-08-10T21:41:11.021"/>
    <p1510:client id="{7FB42E05-DEC9-4126-B474-47B35F363E13}" v="30" dt="2021-07-12T20:25:12.855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82D0390A-222A-332D-F9F9-70D15093EB60}" v="22" dt="2021-07-13T17:51:30.429"/>
    <p1510:client id="{86B35720-4193-446F-B2D5-9AD9984A55EF}" v="513" dt="2021-08-19T14:59:06.5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1"/>
    <p:restoredTop sz="85174"/>
  </p:normalViewPr>
  <p:slideViewPr>
    <p:cSldViewPr snapToGrid="0" snapToObjects="1">
      <p:cViewPr varScale="1">
        <p:scale>
          <a:sx n="62" d="100"/>
          <a:sy n="62" d="100"/>
        </p:scale>
        <p:origin x="124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&lt;Name&gt;</a:t>
            </a:r>
          </a:p>
          <a:p>
            <a:r>
              <a:rPr lang="en-US" dirty="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&lt;Date&gt;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7" y="2113240"/>
            <a:ext cx="5167086" cy="332082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Executive Summary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Methodology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Conclusion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Appendix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903" y="2684972"/>
            <a:ext cx="4017889" cy="1039909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Summary of methodologies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Summary of all results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 txBox="1">
            <a:spLocks/>
          </p:cNvSpPr>
          <p:nvPr/>
        </p:nvSpPr>
        <p:spPr>
          <a:xfrm>
            <a:off x="1" y="1090518"/>
            <a:ext cx="12191999" cy="5770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400"/>
              </a:spcBef>
              <a:buNone/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F3A198-9CBA-43E8-ACBB-3CFB98420883}"/>
              </a:ext>
            </a:extLst>
          </p:cNvPr>
          <p:cNvSpPr txBox="1"/>
          <p:nvPr/>
        </p:nvSpPr>
        <p:spPr>
          <a:xfrm>
            <a:off x="-2875" y="1348354"/>
            <a:ext cx="12191999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FF0000"/>
                </a:solidFill>
              </a:rPr>
              <a:t>PROJECT BACKGROUND AND CONTEXT</a:t>
            </a:r>
          </a:p>
          <a:p>
            <a:r>
              <a:rPr lang="en-US" sz="2400" dirty="0"/>
              <a:t>SpaceX can offer Falcon9 rocket launches for $62 million because they reuse the expensive first stage. Other providers cost upwards of $165 million because their rockets are expendable.</a:t>
            </a:r>
          </a:p>
          <a:p>
            <a:r>
              <a:rPr lang="en-US" sz="2400" dirty="0"/>
              <a:t>A commercial aerospace competitor wants to bid against SpaceX. To price the bids competitively, they need to know if SpaceX will successfully land and reuse the first stage of a given launch.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u="sng" dirty="0">
                <a:solidFill>
                  <a:srgbClr val="FF0000"/>
                </a:solidFill>
              </a:rPr>
              <a:t>PROBLEMS YOU WANT TO FIND ANSWERS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features (payload mass, launch site, orbit type and flight number) most significantly impact the success of a first stage landing?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Can we accurately predict whether the Falcon 9 first stage will and successfully using machine learning classification models?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does SpaceX’s launch success rate trend over time and across different geographic launch sites?</a:t>
            </a:r>
          </a:p>
          <a:p>
            <a:r>
              <a:rPr lang="en-US" sz="2400" dirty="0"/>
              <a:t>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FEC426-B615-E549-83E5-140FD588BC64}"/>
              </a:ext>
            </a:extLst>
          </p:cNvPr>
          <p:cNvSpPr txBox="1">
            <a:spLocks/>
          </p:cNvSpPr>
          <p:nvPr/>
        </p:nvSpPr>
        <p:spPr>
          <a:xfrm>
            <a:off x="568533" y="940792"/>
            <a:ext cx="10104817" cy="5486419"/>
          </a:xfrm>
          <a:prstGeom prst="rect">
            <a:avLst/>
          </a:prstGeom>
        </p:spPr>
        <p:txBody>
          <a:bodyPr lIns="91440" tIns="45720" rIns="91440" bIns="45720" anchor="t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 lang="en-US" sz="8800" dirty="0">
                <a:solidFill>
                  <a:srgbClr val="0B49CB"/>
                </a:solidFill>
                <a:latin typeface="Abadi"/>
              </a:rPr>
              <a:t>Executive Summary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Data collection methodology: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Gather API and web-scraped data.</a:t>
            </a:r>
          </a:p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endParaRPr lang="en-US" sz="8800" dirty="0">
              <a:solidFill>
                <a:schemeClr val="accent3">
                  <a:lumMod val="25000"/>
                </a:schemeClr>
              </a:solidFill>
              <a:latin typeface="+mj-lt"/>
            </a:endParaRP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data wrangling</a:t>
            </a:r>
          </a:p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Data Cleaning: Handled missing values by replacing null payload masses with the column mean.</a:t>
            </a:r>
          </a:p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Target Labeling: Created a binary classification variable (Class) where 1 represents a successful first-stage landing and 0 represents a failed or landing outcome.</a:t>
            </a:r>
          </a:p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endParaRPr lang="en-US" sz="8800" dirty="0">
              <a:solidFill>
                <a:schemeClr val="accent3">
                  <a:lumMod val="25000"/>
                </a:schemeClr>
              </a:solidFill>
              <a:latin typeface="+mj-lt"/>
            </a:endParaRPr>
          </a:p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exploratory data analysis (EDA) using visualization and SQL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SQL Querying: Used SQL to calculate totals, success rates, and analyze payload mass distributions across different launch sites.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Data Visualization: Built Seaborn and Matplotlib charts to discover relationships between flight numbers, site locations, and success trends.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endParaRPr lang="en-US" sz="88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interactive visual analytics using Folium and </a:t>
            </a:r>
            <a:r>
              <a:rPr lang="en-US" sz="88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Plotly</a:t>
            </a: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 Dash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Geospatial Mapping: Utilized Folium to plot launch sites and visualize proximity to coastlines, highways, and railways.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Dynamic Dashboards: Developed an interactive </a:t>
            </a:r>
            <a:r>
              <a:rPr lang="en-US" sz="8800" dirty="0" err="1">
                <a:solidFill>
                  <a:schemeClr val="accent3">
                    <a:lumMod val="25000"/>
                  </a:schemeClr>
                </a:solidFill>
                <a:latin typeface="+mj-lt"/>
              </a:rPr>
              <a:t>Plotly</a:t>
            </a: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 Dash application to filter launch statistics by site and payload range dynamically.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predictive analysis using classification models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Feature engineering: Preprocessed data using One-Hot Encoding for categorical variables and standardized features using </a:t>
            </a:r>
            <a:r>
              <a:rPr lang="en-US" sz="8800" dirty="0" err="1">
                <a:solidFill>
                  <a:schemeClr val="accent3">
                    <a:lumMod val="25000"/>
                  </a:schemeClr>
                </a:solidFill>
                <a:latin typeface="+mj-lt"/>
              </a:rPr>
              <a:t>StandardScaler</a:t>
            </a: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Model Evaluation: Built, tuned, and cross-validated four distinct classification algorithms: Logistic Regression, SVM, Decision Tree, and KNN using </a:t>
            </a:r>
            <a:r>
              <a:rPr lang="en-US" sz="8800" dirty="0" err="1">
                <a:solidFill>
                  <a:schemeClr val="accent3">
                    <a:lumMod val="25000"/>
                  </a:schemeClr>
                </a:solidFill>
                <a:latin typeface="+mj-lt"/>
              </a:rPr>
              <a:t>GridSearchCV</a:t>
            </a: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Libraries used: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Imported requests to fetch data, pandas, and </a:t>
            </a:r>
            <a:r>
              <a:rPr lang="en-US" sz="2400" dirty="0" err="1">
                <a:solidFill>
                  <a:schemeClr val="bg2">
                    <a:lumMod val="50000"/>
                  </a:schemeClr>
                </a:solidFill>
              </a:rPr>
              <a:t>numpy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for data manipulation, and datetime to parse time strings.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Initial request: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Sent a HTTP GET request to the SpaceX API endpoint using a static API URL to ensure consistency.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JSON Parsing: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Decoded the raw JSON response payload and converted the initial list of launch IDs into a base Pandas </a:t>
            </a:r>
            <a:r>
              <a:rPr lang="en-US" sz="2400" dirty="0" err="1">
                <a:solidFill>
                  <a:schemeClr val="bg2">
                    <a:lumMod val="50000"/>
                  </a:schemeClr>
                </a:solidFill>
              </a:rPr>
              <a:t>dataframe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Feature Extraction: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Utilized targeted helper functions to iterate through individual API endpoints and unpack core data elements.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    Booster details: Extracted rocket name and booster version.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     Launch sites: Collected launchpad names along </a:t>
            </a:r>
            <a:r>
              <a:rPr lang="en-US" sz="2400" dirty="0" err="1">
                <a:solidFill>
                  <a:schemeClr val="bg2">
                    <a:lumMod val="50000"/>
                  </a:schemeClr>
                </a:solidFill>
              </a:rPr>
              <a:t>withg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their exact latitude and longitude.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      Payload Data: Isolated Payload Mass(kg) and the specific target orbit.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     Core outcomes: Retained core serial numbers, landing success history, landing type, block variant, and reuse metrics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to present your data collection process use key phrases and flowcharts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0262" y="1792289"/>
            <a:ext cx="5461000" cy="3368648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Abadi"/>
              </a:rPr>
              <a:t>[Get Request to SpaceX API]</a:t>
            </a:r>
          </a:p>
          <a:p>
            <a:pPr marL="0" indent="0">
              <a:buNone/>
            </a:pPr>
            <a:endParaRPr lang="en-US" sz="2200" dirty="0">
              <a:latin typeface="Abadi"/>
            </a:endParaRPr>
          </a:p>
          <a:p>
            <a:pPr marL="0" indent="0">
              <a:buNone/>
            </a:pPr>
            <a:r>
              <a:rPr lang="en-US" sz="2200" dirty="0">
                <a:latin typeface="Abadi"/>
              </a:rPr>
              <a:t>  [Filter Falcon 9 Data]</a:t>
            </a:r>
          </a:p>
          <a:p>
            <a:pPr marL="0" indent="0">
              <a:buNone/>
            </a:pPr>
            <a:endParaRPr lang="en-US" sz="2200" dirty="0">
              <a:latin typeface="Abadi"/>
            </a:endParaRPr>
          </a:p>
          <a:p>
            <a:pPr marL="0" indent="0">
              <a:buNone/>
            </a:pPr>
            <a:r>
              <a:rPr lang="en-US" sz="2200" dirty="0">
                <a:latin typeface="Abadi"/>
              </a:rPr>
              <a:t>[Run Helper Functions(Booster, </a:t>
            </a:r>
            <a:r>
              <a:rPr lang="en-US" sz="2200" dirty="0" err="1">
                <a:latin typeface="Abadi"/>
              </a:rPr>
              <a:t>Site,Payload</a:t>
            </a:r>
            <a:r>
              <a:rPr lang="en-US" sz="2200" dirty="0">
                <a:latin typeface="Abadi"/>
              </a:rPr>
              <a:t>, Core)]   </a:t>
            </a:r>
          </a:p>
          <a:p>
            <a:pPr marL="0" indent="0">
              <a:buNone/>
            </a:pPr>
            <a:endParaRPr lang="en-US" sz="2200" dirty="0">
              <a:latin typeface="Abadi"/>
            </a:endParaRPr>
          </a:p>
          <a:p>
            <a:pPr marL="0" indent="0">
              <a:buNone/>
            </a:pPr>
            <a:r>
              <a:rPr lang="en-US" sz="2200" dirty="0">
                <a:latin typeface="Abadi"/>
              </a:rPr>
              <a:t>[Construct Final Pandas </a:t>
            </a:r>
            <a:r>
              <a:rPr lang="en-US" sz="2200" dirty="0" err="1">
                <a:latin typeface="Abadi"/>
              </a:rPr>
              <a:t>Dataframe</a:t>
            </a:r>
            <a:r>
              <a:rPr lang="en-US" sz="2200" dirty="0">
                <a:latin typeface="Abadi"/>
              </a:rPr>
              <a:t>]         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20738" y="1800225"/>
            <a:ext cx="4640263" cy="422592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5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API Request: Sent a HTTP GET request using the requests library to the SpaceX REST API endpoint to pull raw launch records.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5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JSON Parsing: Decoded the raw JSON response payload and filtered the data to isolate Falcon 9 rocket entries.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5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Data Extraction: Iterated through specific sub-endpoints via custom helper functions to pull nested properties into structured lists</a:t>
            </a:r>
          </a:p>
          <a:p>
            <a:pPr marL="457200" indent="-457200" algn="ctr">
              <a:lnSpc>
                <a:spcPct val="100000"/>
              </a:lnSpc>
              <a:spcBef>
                <a:spcPts val="1400"/>
              </a:spcBef>
              <a:buFont typeface="+mj-lt"/>
              <a:buAutoNum type="arabicPeriod"/>
            </a:pPr>
            <a:r>
              <a:rPr lang="en-US" sz="25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     </a:t>
            </a:r>
            <a:r>
              <a:rPr lang="en-US" sz="2500" dirty="0" err="1">
                <a:solidFill>
                  <a:schemeClr val="accent3">
                    <a:lumMod val="25000"/>
                  </a:schemeClr>
                </a:solidFill>
                <a:latin typeface="+mj-lt"/>
              </a:rPr>
              <a:t>getBoosterVersion</a:t>
            </a:r>
            <a:r>
              <a:rPr lang="en-US" sz="25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: Extracted booster rocket names.</a:t>
            </a:r>
          </a:p>
          <a:p>
            <a:pPr marL="457200" indent="-457200" algn="ctr">
              <a:lnSpc>
                <a:spcPct val="100000"/>
              </a:lnSpc>
              <a:spcBef>
                <a:spcPts val="1400"/>
              </a:spcBef>
              <a:buFont typeface="+mj-lt"/>
              <a:buAutoNum type="arabicPeriod"/>
            </a:pPr>
            <a:r>
              <a:rPr lang="en-US" sz="2500" dirty="0" err="1">
                <a:solidFill>
                  <a:schemeClr val="accent3">
                    <a:lumMod val="25000"/>
                  </a:schemeClr>
                </a:solidFill>
                <a:latin typeface="+mj-lt"/>
              </a:rPr>
              <a:t>getLaunchSite</a:t>
            </a:r>
            <a:r>
              <a:rPr lang="en-US" sz="25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: Map geographical coordinates and pad names.</a:t>
            </a:r>
          </a:p>
          <a:p>
            <a:pPr marL="0" indent="0" algn="ctr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5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3. </a:t>
            </a:r>
            <a:r>
              <a:rPr lang="en-US" sz="2500" dirty="0" err="1">
                <a:solidFill>
                  <a:schemeClr val="accent3">
                    <a:lumMod val="25000"/>
                  </a:schemeClr>
                </a:solidFill>
                <a:latin typeface="+mj-lt"/>
              </a:rPr>
              <a:t>getCoreData</a:t>
            </a:r>
            <a:r>
              <a:rPr lang="en-US" sz="25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: Captured historical core landing outcomes, block version, and reuse status.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+mj-lt"/>
            </a:endParaRPr>
          </a:p>
          <a:p>
            <a:r>
              <a:rPr lang="en-US" dirty="0"/>
              <a:t>https://github.com/giftmee/IBM-DATA-SCIENCE-SPACEX-CAPSTONE/blob/main/jupyter-labs-spacex-data-collection-api.ipynb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– SpaceX API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BE44C5-B268-4FB3-8D7A-9F3C4666CCD4}"/>
              </a:ext>
            </a:extLst>
          </p:cNvPr>
          <p:cNvCxnSpPr/>
          <p:nvPr/>
        </p:nvCxnSpPr>
        <p:spPr>
          <a:xfrm>
            <a:off x="7578671" y="2154264"/>
            <a:ext cx="0" cy="526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78624E8-B9AA-4CF4-83A1-90A91BDF4D72}"/>
              </a:ext>
            </a:extLst>
          </p:cNvPr>
          <p:cNvCxnSpPr/>
          <p:nvPr/>
        </p:nvCxnSpPr>
        <p:spPr>
          <a:xfrm>
            <a:off x="7578671" y="2991173"/>
            <a:ext cx="0" cy="437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746356-6611-4636-B19C-493B498D52EB}"/>
              </a:ext>
            </a:extLst>
          </p:cNvPr>
          <p:cNvCxnSpPr/>
          <p:nvPr/>
        </p:nvCxnSpPr>
        <p:spPr>
          <a:xfrm>
            <a:off x="7578671" y="4200041"/>
            <a:ext cx="0" cy="480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922411" y="1792288"/>
            <a:ext cx="3932238" cy="381158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Target Source: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Extended historical Falcon 9 launch records from a dedicated Wikipedia page containing structured HTML tables.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HTML request: Used the requests library to send a HTTP GET request and download the raw web page content.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+mj-lt"/>
              </a:rPr>
              <a:t>BeautifulSoup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 Parsing: Parse the raw HTML text using the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+mj-lt"/>
              </a:rPr>
              <a:t>BeautiflSoup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 library with the standard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+mj-lt"/>
              </a:rPr>
              <a:t>html.parser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 engine.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Table Extraction: Target isolated &lt;table&gt; elements with the CSS class attribute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+mj-lt"/>
              </a:rPr>
              <a:t>wikitable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+mj-lt"/>
              </a:rPr>
              <a:t>plainrowheaders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 to extract individual column headers and rows.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Data Cleansing: Automated data extraction loop by cleaning raw text strings, removing citation footnotes, and stripping extra whitespaces.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+mj-lt"/>
              </a:rPr>
              <a:t>Dataframe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 Construction: Transformed parsed lists into a comprehensive Pandas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+mj-lt"/>
              </a:rPr>
              <a:t>dataframe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+mj-lt"/>
              </a:rPr>
              <a:t> for subsequent data cleaning steps.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https://github.com/giftmee/IBM-DATA-SCIENCE-SPACEX-CAPSTONE/blob/main/jupyter-labs-webscraping%20(2).ipynb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endParaRPr lang="en-US">
              <a:solidFill>
                <a:srgbClr val="1C7DDB"/>
              </a:solidFill>
              <a:latin typeface="Abad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922411" y="6910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- Scraping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B78C759-C687-440F-8CAE-D3071F1AB630}"/>
              </a:ext>
            </a:extLst>
          </p:cNvPr>
          <p:cNvSpPr txBox="1">
            <a:spLocks/>
          </p:cNvSpPr>
          <p:nvPr/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rgbClr val="1C7DDB"/>
                </a:solidFill>
                <a:latin typeface="Abadi"/>
              </a:rPr>
              <a:t>[Request Wikipedia HTML Page via </a:t>
            </a:r>
            <a:r>
              <a:rPr lang="en-US" sz="2200" dirty="0" err="1">
                <a:solidFill>
                  <a:srgbClr val="1C7DDB"/>
                </a:solidFill>
                <a:latin typeface="Abadi"/>
              </a:rPr>
              <a:t>requests.get</a:t>
            </a:r>
            <a:r>
              <a:rPr lang="en-US" sz="2200" dirty="0">
                <a:solidFill>
                  <a:srgbClr val="1C7DDB"/>
                </a:solidFill>
                <a:latin typeface="Abadi"/>
              </a:rPr>
              <a:t>()]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rgbClr val="1C7DDB"/>
                </a:solidFill>
                <a:latin typeface="Abadi"/>
              </a:rPr>
              <a:t>[Parse Raw HTML Using </a:t>
            </a:r>
            <a:r>
              <a:rPr lang="en-US" sz="2200" dirty="0" err="1">
                <a:solidFill>
                  <a:srgbClr val="1C7DDB"/>
                </a:solidFill>
                <a:latin typeface="Abadi"/>
              </a:rPr>
              <a:t>BeautifulSoup</a:t>
            </a: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rgbClr val="1C7DDB"/>
                </a:solidFill>
                <a:latin typeface="Abadi"/>
              </a:rPr>
              <a:t>Library]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rgbClr val="1C7DDB"/>
                </a:solidFill>
                <a:latin typeface="Abadi"/>
              </a:rPr>
              <a:t>                       </a:t>
            </a:r>
            <a:r>
              <a:rPr lang="en-US" sz="2400" dirty="0">
                <a:solidFill>
                  <a:schemeClr val="accent1"/>
                </a:solidFill>
                <a:cs typeface="Calibri"/>
              </a:rPr>
              <a:t>[Find and Isolate Falcon 9 Launch Logs Tables]</a:t>
            </a: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  <a:cs typeface="Calibri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cs typeface="Calibri"/>
              </a:rPr>
              <a:t>[Iterate Through Rows to Parse Cells &amp; Strip Footnotes </a:t>
            </a: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  <a:cs typeface="Calibri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cs typeface="Calibri"/>
              </a:rPr>
              <a:t>[[Append Clean Records into Final Pandas </a:t>
            </a:r>
            <a:r>
              <a:rPr lang="en-US" sz="2400" dirty="0" err="1">
                <a:solidFill>
                  <a:schemeClr val="accent1"/>
                </a:solidFill>
                <a:cs typeface="Calibri"/>
              </a:rPr>
              <a:t>Dataframe</a:t>
            </a:r>
            <a:r>
              <a:rPr lang="en-US" sz="2400" dirty="0">
                <a:solidFill>
                  <a:schemeClr val="accent1"/>
                </a:solidFill>
                <a:cs typeface="Calibri"/>
              </a:rPr>
              <a:t>]                        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554B314-EBA9-4583-9C6F-05C00585EF6B}"/>
              </a:ext>
            </a:extLst>
          </p:cNvPr>
          <p:cNvCxnSpPr/>
          <p:nvPr/>
        </p:nvCxnSpPr>
        <p:spPr>
          <a:xfrm>
            <a:off x="7997125" y="2014784"/>
            <a:ext cx="0" cy="433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ADAAB6-DDBC-43FD-9D7A-03BD39E12578}"/>
              </a:ext>
            </a:extLst>
          </p:cNvPr>
          <p:cNvCxnSpPr/>
          <p:nvPr/>
        </p:nvCxnSpPr>
        <p:spPr>
          <a:xfrm>
            <a:off x="7981623" y="2781947"/>
            <a:ext cx="0" cy="402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6089A3-7BA9-4930-9A19-A07815802C7C}"/>
              </a:ext>
            </a:extLst>
          </p:cNvPr>
          <p:cNvCxnSpPr/>
          <p:nvPr/>
        </p:nvCxnSpPr>
        <p:spPr>
          <a:xfrm>
            <a:off x="7997125" y="3705252"/>
            <a:ext cx="0" cy="535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5FDA90-A510-483F-A60C-9A7BF6324A87}"/>
              </a:ext>
            </a:extLst>
          </p:cNvPr>
          <p:cNvCxnSpPr/>
          <p:nvPr/>
        </p:nvCxnSpPr>
        <p:spPr>
          <a:xfrm>
            <a:off x="7981625" y="4872979"/>
            <a:ext cx="0" cy="365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407170"/>
            <a:ext cx="11747715" cy="545082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400" dirty="0">
                <a:solidFill>
                  <a:schemeClr val="accent3">
                    <a:lumMod val="25000"/>
                  </a:schemeClr>
                </a:solidFill>
              </a:rPr>
              <a:t>Missing Value Imputation: Identified missing entries in the </a:t>
            </a:r>
            <a:r>
              <a:rPr lang="en-US" sz="2400" dirty="0" err="1">
                <a:solidFill>
                  <a:schemeClr val="accent3">
                    <a:lumMod val="25000"/>
                  </a:schemeClr>
                </a:solidFill>
              </a:rPr>
              <a:t>PayloadMass</a:t>
            </a:r>
            <a:r>
              <a:rPr lang="en-US" sz="2400" dirty="0">
                <a:solidFill>
                  <a:schemeClr val="accent3">
                    <a:lumMod val="25000"/>
                  </a:schemeClr>
                </a:solidFill>
              </a:rPr>
              <a:t> column and replaced them using the columns calculated mean value.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400" dirty="0">
                <a:solidFill>
                  <a:schemeClr val="accent3">
                    <a:lumMod val="25000"/>
                  </a:schemeClr>
                </a:solidFill>
              </a:rPr>
              <a:t>Outcome Mapping: Analyzed the raw Outcome string values (e.g., True </a:t>
            </a:r>
            <a:r>
              <a:rPr lang="en-US" sz="2400" dirty="0" err="1">
                <a:solidFill>
                  <a:schemeClr val="accent3">
                    <a:lumMod val="25000"/>
                  </a:schemeClr>
                </a:solidFill>
              </a:rPr>
              <a:t>ASDS,False</a:t>
            </a:r>
            <a:r>
              <a:rPr lang="en-US" sz="2400" dirty="0">
                <a:solidFill>
                  <a:schemeClr val="accent3">
                    <a:lumMod val="25000"/>
                  </a:schemeClr>
                </a:solidFill>
              </a:rPr>
              <a:t> RTLS, None None) to determine landing success.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400" dirty="0">
                <a:solidFill>
                  <a:schemeClr val="accent3">
                    <a:lumMod val="25000"/>
                  </a:schemeClr>
                </a:solidFill>
              </a:rPr>
              <a:t>Binary Classification Labeling: Created the core target variable (Class) </a:t>
            </a:r>
            <a:r>
              <a:rPr lang="en-US" sz="2400" dirty="0" err="1">
                <a:solidFill>
                  <a:schemeClr val="accent3">
                    <a:lumMod val="25000"/>
                  </a:schemeClr>
                </a:solidFill>
              </a:rPr>
              <a:t>where:i</a:t>
            </a:r>
            <a:r>
              <a:rPr lang="en-US" sz="2400" dirty="0">
                <a:solidFill>
                  <a:schemeClr val="accent3">
                    <a:lumMod val="25000"/>
                  </a:schemeClr>
                </a:solidFill>
              </a:rPr>
              <a:t>)Class=1:Represents a successful landing outcome (True </a:t>
            </a:r>
            <a:r>
              <a:rPr lang="en-US" sz="2400" dirty="0" err="1">
                <a:solidFill>
                  <a:schemeClr val="accent3">
                    <a:lumMod val="25000"/>
                  </a:schemeClr>
                </a:solidFill>
              </a:rPr>
              <a:t>ASDS,True</a:t>
            </a:r>
            <a:r>
              <a:rPr lang="en-US" sz="2400" dirty="0">
                <a:solidFill>
                  <a:schemeClr val="accent3">
                    <a:lumMod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3">
                    <a:lumMod val="25000"/>
                  </a:schemeClr>
                </a:solidFill>
              </a:rPr>
              <a:t>RTLS,True</a:t>
            </a:r>
            <a:r>
              <a:rPr lang="en-US" sz="2400" dirty="0">
                <a:solidFill>
                  <a:schemeClr val="accent3">
                    <a:lumMod val="25000"/>
                  </a:schemeClr>
                </a:solidFill>
              </a:rPr>
              <a:t> Ocean)</a:t>
            </a:r>
          </a:p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 lang="en-US" sz="2400" dirty="0">
                <a:solidFill>
                  <a:schemeClr val="accent3">
                    <a:lumMod val="25000"/>
                  </a:schemeClr>
                </a:solidFill>
              </a:rPr>
              <a:t>             ii)Class=0: Represents an unsuccessful landing or a failure to land(False ASDS, False </a:t>
            </a:r>
            <a:r>
              <a:rPr lang="en-US" sz="2400" dirty="0" err="1">
                <a:solidFill>
                  <a:schemeClr val="accent3">
                    <a:lumMod val="25000"/>
                  </a:schemeClr>
                </a:solidFill>
              </a:rPr>
              <a:t>RTLS,False</a:t>
            </a:r>
            <a:r>
              <a:rPr lang="en-US" sz="2400" dirty="0">
                <a:solidFill>
                  <a:schemeClr val="accent3">
                    <a:lumMod val="25000"/>
                  </a:schemeClr>
                </a:solidFill>
              </a:rPr>
              <a:t> Ocean, None </a:t>
            </a:r>
            <a:r>
              <a:rPr lang="en-US" sz="2400" dirty="0" err="1">
                <a:solidFill>
                  <a:schemeClr val="accent3">
                    <a:lumMod val="25000"/>
                  </a:schemeClr>
                </a:solidFill>
              </a:rPr>
              <a:t>None</a:t>
            </a:r>
            <a:r>
              <a:rPr lang="en-US" sz="2400" dirty="0">
                <a:solidFill>
                  <a:schemeClr val="accent3">
                    <a:lumMod val="25000"/>
                  </a:schemeClr>
                </a:solidFill>
              </a:rPr>
              <a:t>, None ASDS)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400" dirty="0">
                <a:solidFill>
                  <a:schemeClr val="accent3">
                    <a:lumMod val="25000"/>
                  </a:schemeClr>
                </a:solidFill>
              </a:rPr>
              <a:t>Feature Selection: Filtered down the dataset to retain critical features like Flight Number, date, Booster Version, </a:t>
            </a:r>
            <a:r>
              <a:rPr lang="en-US" sz="2400" dirty="0" err="1">
                <a:solidFill>
                  <a:schemeClr val="accent3">
                    <a:lumMod val="25000"/>
                  </a:schemeClr>
                </a:solidFill>
              </a:rPr>
              <a:t>PayloadMass</a:t>
            </a:r>
            <a:r>
              <a:rPr lang="en-US" sz="2400" dirty="0">
                <a:solidFill>
                  <a:schemeClr val="accent3">
                    <a:lumMod val="25000"/>
                  </a:schemeClr>
                </a:solidFill>
              </a:rPr>
              <a:t>, Orbit, Launch Site and Core details.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400" dirty="0">
                <a:solidFill>
                  <a:schemeClr val="accent3">
                    <a:lumMod val="25000"/>
                  </a:schemeClr>
                </a:solidFill>
              </a:rPr>
              <a:t>https://github.com/giftmee/IBM-DATA-SCIENCE-SPACEX-CAPSTONE/blob/main/labs-jupyter-spacex-Data%20wrangling.ipynb</a:t>
            </a:r>
          </a:p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endParaRPr lang="en-US" sz="2400" dirty="0">
              <a:solidFill>
                <a:schemeClr val="accent3">
                  <a:lumMod val="25000"/>
                </a:schemeClr>
              </a:solidFill>
            </a:endParaRPr>
          </a:p>
          <a:p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Wrangling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29919F-ED7F-4409-9356-82990FAA016D}"/>
              </a:ext>
            </a:extLst>
          </p:cNvPr>
          <p:cNvSpPr txBox="1"/>
          <p:nvPr/>
        </p:nvSpPr>
        <p:spPr>
          <a:xfrm>
            <a:off x="0" y="108488"/>
            <a:ext cx="1219200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                         [Identify &amp; Count Null Values]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   [Impute </a:t>
            </a:r>
            <a:r>
              <a:rPr lang="en-US" sz="2800" dirty="0" err="1"/>
              <a:t>PayloadMass</a:t>
            </a:r>
            <a:r>
              <a:rPr lang="en-US" sz="2800" dirty="0"/>
              <a:t> Nulls with Column mean]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[Analyze ‘Outcome’ Column Landing Text Strings]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[Mao ‘True’ Outlays to 1 &amp; ‘False/None’ Outlays to 0]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[Export Clean Dataset as a Final CV]</a:t>
            </a:r>
          </a:p>
          <a:p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A9DA35F-9954-4EB9-A572-0AE84D954453}"/>
              </a:ext>
            </a:extLst>
          </p:cNvPr>
          <p:cNvCxnSpPr/>
          <p:nvPr/>
        </p:nvCxnSpPr>
        <p:spPr>
          <a:xfrm>
            <a:off x="2619214" y="464949"/>
            <a:ext cx="0" cy="320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3D51E1A-8ACB-4F2B-BB48-0B209C5FB22A}"/>
              </a:ext>
            </a:extLst>
          </p:cNvPr>
          <p:cNvCxnSpPr/>
          <p:nvPr/>
        </p:nvCxnSpPr>
        <p:spPr>
          <a:xfrm>
            <a:off x="2619214" y="1270861"/>
            <a:ext cx="0" cy="449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35C3A6E-7E9A-4FAD-BA2C-738671A5CA7F}"/>
              </a:ext>
            </a:extLst>
          </p:cNvPr>
          <p:cNvCxnSpPr/>
          <p:nvPr/>
        </p:nvCxnSpPr>
        <p:spPr>
          <a:xfrm>
            <a:off x="2619214" y="2045776"/>
            <a:ext cx="0" cy="387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0BDBE0A-7EA6-4AC4-BC7A-889C8607BDE1}"/>
              </a:ext>
            </a:extLst>
          </p:cNvPr>
          <p:cNvCxnSpPr/>
          <p:nvPr/>
        </p:nvCxnSpPr>
        <p:spPr>
          <a:xfrm>
            <a:off x="2619214" y="2882685"/>
            <a:ext cx="0" cy="371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349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Summarize what charts were plotted and why you used those 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EDA with data visualization notebook, as an external reference and peer-review purpose</a:t>
            </a:r>
          </a:p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0657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Using bullet point format, summarize the SQL queries you performed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EDA with SQL notebook, as an external reference and peer-review purpose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 SQL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7505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what map objects such as markers, circles, lines, etc. you created and added to a folium map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Explain why you added those objects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interactive map with Folium map, as an external reference and peer-review purpose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what plots/graphs and interactions you have added to a dashboard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Explain why you added those plots and interactions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</a:t>
            </a:r>
            <a:r>
              <a:rPr lang="en-US" sz="220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Plotly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Dash lab,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 Dashboard with </a:t>
            </a:r>
            <a:r>
              <a:rPr lang="en-US" dirty="0" err="1">
                <a:solidFill>
                  <a:srgbClr val="0B49CB"/>
                </a:solidFill>
                <a:latin typeface="Abadi"/>
              </a:rPr>
              <a:t>Plotly</a:t>
            </a:r>
            <a:r>
              <a:rPr lang="en-US" dirty="0">
                <a:solidFill>
                  <a:srgbClr val="0B49CB"/>
                </a:solidFill>
                <a:latin typeface="Abadi"/>
              </a:rPr>
              <a:t> Dash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how you built, evaluated, improved, and found the best performing classification model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present your model development process using key phrases and flowchart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predictive analysis lab,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(Classification)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 txBox="1">
            <a:spLocks/>
          </p:cNvSpPr>
          <p:nvPr/>
        </p:nvSpPr>
        <p:spPr>
          <a:xfrm>
            <a:off x="841125" y="1807337"/>
            <a:ext cx="7068725" cy="1621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Exploratory data analysis 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Interactive analytics demo in screenshots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Predictive analysis results</a:t>
            </a:r>
          </a:p>
          <a:p>
            <a:pPr lvl="1"/>
            <a:endParaRPr lang="en-US" sz="1800"/>
          </a:p>
          <a:p>
            <a:pPr marL="457200" lvl="1" indent="0">
              <a:buNone/>
            </a:pPr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17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64973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Flight Number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Launch Site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Payload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Launch Site</a:t>
            </a:r>
          </a:p>
        </p:txBody>
      </p:sp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82114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bar chart for the success rate of each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6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Flight number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payload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Orbit 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line chart of yearly average success rate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Success Yearly Trend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the names of the unique launch sites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All Launch Site Names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5 records where launch sites begin with `CCA`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Names Begin with 'CCA'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payload carried by boosters from NASA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Payload Mass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average payload mass carried by booster version F9 v1.1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Average Payload Mass by F9 v1.1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Find the dates of the first successful landing outcome on ground pad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First Successful Ground Landing Date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names of boosters which have successfully landed on drone ship and had payload mass greater than 4000 but less than 6000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Successful Drone Ship Landing with Payload between 4000 and 6000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number of successful and failure mission outcomes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Number of Successful and Failure Mission Outcomes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List the names of the booster which have carried the maximum payload mass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Boosters Carried Maximum Payload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failed 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landing_outcomes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in drone ship, their booster versions, and launch site names for in year 2015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2015 Launch Records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Rank the count of landing outcomes (such as Failure (drone ship) or Success (ground pad)) between the date 2010-06-04 and 2017-03-20, in descending order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Rank Landing Outcomes Between 2010-06-04 and 2017-03-20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make a proper screenshot to include all launch sites’ location markers on a global map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  <a:ea typeface="+mn-lt"/>
                <a:cs typeface="+mn-lt"/>
              </a:rPr>
              <a:t>Explore the folium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map and make a proper screenshot to show the color-labeled launch outcomes on the map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spcBef>
                <a:spcPts val="1400"/>
              </a:spcBef>
            </a:pPr>
            <a:endParaRPr lang="en-US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690688"/>
            <a:ext cx="8597827" cy="431482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show the screenshot of a selected launch site to its proximities such as railway, highway, coastline, with distance calculated and displayed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launch success count for all sites, in a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4027" y="1825625"/>
            <a:ext cx="10551583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for the launch site with highest launch success ratio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414662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Replace &lt;Dashboard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screenshots of Payload vs. Launch Outcome scatter plot for all sites, with different payload selected in the range slider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screenshot, such as which payload range or booster version have the largest success rate, etc.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0" y="2082114"/>
            <a:ext cx="5325989" cy="3811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Visualize the built model accuracy for all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built classification models, in a bar chart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which model has the highest classification accuracy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9477960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confusion matrix of the best performing model with an explanation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Confusion Matrix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75054"/>
            <a:ext cx="5903913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2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3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4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…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47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59522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Include any relevant assets like Python code snippets, SQL queries, charts, Notebook outputs, or data sets that you may have created during this project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1618</TotalTime>
  <Words>2225</Words>
  <Application>Microsoft Office PowerPoint</Application>
  <PresentationFormat>Widescreen</PresentationFormat>
  <Paragraphs>288</Paragraphs>
  <Slides>48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Abadi</vt:lpstr>
      <vt:lpstr>Arial</vt:lpstr>
      <vt:lpstr>Calibri</vt:lpstr>
      <vt:lpstr>Calibri Light</vt:lpstr>
      <vt:lpstr>IBM Plex Mono SemiBold</vt:lpstr>
      <vt:lpstr>IBM Plex Mono Text</vt:lpstr>
      <vt:lpstr>SF Pro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Wachira</cp:lastModifiedBy>
  <cp:revision>227</cp:revision>
  <dcterms:created xsi:type="dcterms:W3CDTF">2021-04-29T18:58:34Z</dcterms:created>
  <dcterms:modified xsi:type="dcterms:W3CDTF">2026-09-08T22:54:10Z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